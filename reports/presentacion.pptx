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9753904"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(15 segundos):</a:t>
            </a:r>
          </a:p>
          <a:p/>
          <a:p>
            <a:r>
              <a:t>'Buenos dias profesor. Mi proyecto es un modelo de clasificacion que predice si un estudiante va a aprobar o reprobar el examen final, a partir de sus habitos de estudio y bienestar.'</a:t>
            </a:r>
          </a:p>
          <a:p/>
          <a:p>
            <a:r>
              <a:t>TIP: arranca con voz firme. No leas el titulo, di la idea principal.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(30 segundos):</a:t>
            </a:r>
          </a:p>
          <a:p/>
          <a:p>
            <a:r>
              <a:t>'La pregunta de negocio es esta: deberia un estudiante cambiar sus habitos basandose en la prediccion del modelo?</a:t>
            </a:r>
          </a:p>
          <a:p/>
          <a:p>
            <a:r>
              <a:t>El dataset tiene 5000 estudiantes con 21 variables que cubren tres dimensiones: habitos de estudio, bienestar, y contexto academico. Lo importante es que el modelo no solo prediga, sino que sus predicciones se puedan accionar.'</a:t>
            </a:r>
          </a:p>
          <a:p/>
          <a:p>
            <a:r>
              <a:t>TIP: si tienes tiempo, di una frase del 'por que'. Ej: 'porque el rendimiento no depende solo de la capacidad, tambien de habitos modificables'.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(45 segundos):</a:t>
            </a:r>
          </a:p>
          <a:p/>
          <a:p>
            <a:r>
              <a:t>'Despues de un analisis exploratorio extenso, seleccione 13 variables en 3 grupos tematicos: habitos de estudio, bienestar fisico, y contexto + indicadores.</a:t>
            </a:r>
          </a:p>
          <a:p/>
          <a:p>
            <a:r>
              <a:t>La variable objetivo es la nota del examen, binarizada con la mediana del dataset (18.01) para tener clases balanceadas.</a:t>
            </a:r>
          </a:p>
          <a:p/>
          <a:p>
            <a:r>
              <a:t>Excluí 7 variables que el EDA mostro irrelevantes: edad, genero, nivel academico, calidad de internet, y clases online — todas con correlacion practicamente cero con el resultado.'</a:t>
            </a:r>
          </a:p>
          <a:p/>
          <a:p>
            <a:r>
              <a:t>TIP: si te apuran, di solo los grupos sin enumerar todas las variables.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(45 segundos):</a:t>
            </a:r>
          </a:p>
          <a:p/>
          <a:p>
            <a:r>
              <a:t>'El pipeline tiene tres pasos encadenados:</a:t>
            </a:r>
          </a:p>
          <a:p/>
          <a:p>
            <a:r>
              <a:t>1. StandardScaler para escalar las 13 features.</a:t>
            </a:r>
          </a:p>
          <a:p>
            <a:r>
              <a:t>2. SMOTE para balancear las clases solo durante entrenamiento — es importante que se ignore en prediccion, por eso usamos imblearn.Pipeline en lugar del de sklearn.</a:t>
            </a:r>
          </a:p>
          <a:p>
            <a:r>
              <a:t>3. Arbol de decision con profundidad 5, que es interpretable y se ajusto bien al tamano del dataset.</a:t>
            </a:r>
          </a:p>
          <a:p/>
          <a:p>
            <a:r>
              <a:t>Todo el pipeline se serializa como un solo objeto joblib, lo que garantiza reproducibilidad en produccion.'</a:t>
            </a:r>
          </a:p>
          <a:p/>
          <a:p>
            <a:r>
              <a:t>TIP: enfatiza que SMOTE solo aplica en fit. Eso muestra que entendiste el problema del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(75 segundos) — SLIDE CLAVE:</a:t>
            </a:r>
          </a:p>
          <a:p/>
          <a:p>
            <a:r>
              <a:t>'Estos son los resultados del modelo sobre el set de prueba de 1000 estudiantes. Cinco metricas: accuracy de 84%, precision 82%, recall 87%, F1 de 85%, y un AUC-ROC de 0.93.</a:t>
            </a:r>
          </a:p>
          <a:p/>
          <a:p>
            <a:r>
              <a:t>Pero los numeros sueltos no dicen mucho. Lo importante es lo que significan en el negocio:</a:t>
            </a:r>
          </a:p>
          <a:p/>
          <a:p>
            <a:r>
              <a:t>Recall 0.87 significa que identificamos al 87% de los estudiantes que realmente iban a reprobar. Es decir, casi nadie se nos escapa sin alerta.</a:t>
            </a:r>
          </a:p>
          <a:p/>
          <a:p>
            <a:r>
              <a:t>Precision 0.82 significa que cuando damos una alerta, en 82 de cada 100 casos es real. Esto evita saturar al equipo de bienestar con falsos positivos.</a:t>
            </a:r>
          </a:p>
          <a:p/>
          <a:p>
            <a:r>
              <a:t>Y el AUC de 0.93 es excelente: el modelo distingue muy bien las dos clases independiente del umbral que escojamos.'</a:t>
            </a:r>
          </a:p>
          <a:p/>
          <a:p>
            <a:r>
              <a:t>TIP: detente unos segundos despues de cada metrica. No las leas en bloque, deja que se procesen.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(75 segundos):</a:t>
            </a:r>
          </a:p>
          <a:p/>
          <a:p>
            <a:r>
              <a:t>'A la izquierda esta la matriz de confusion. En el cuadrante superior izquierdo y el inferior derecho estan las predicciones correctas; en los otros dos estan los errores.</a:t>
            </a:r>
          </a:p>
          <a:p/>
          <a:p>
            <a:r>
              <a:t>Lo que observamos es que el modelo se equivoca de forma balanceada: comete pocos falsos positivos y pocos falsos negativos. Esto es lo que se busca cuando ambos errores tienen costo en el negocio.</a:t>
            </a:r>
          </a:p>
          <a:p/>
          <a:p>
            <a:r>
              <a:t>A la derecha esta la curva ROC. Una curva pegada a la esquina superior izquierda significa que el modelo separa bien las clases. La diagonal punteada representa el desempeno de un modelo aleatorio. Como ven, nuestra curva esta muy lejos de la diagonal — el AUC es 0.93 sobre un maximo de 1.0.'</a:t>
            </a:r>
          </a:p>
          <a:p/>
          <a:p>
            <a:r>
              <a:t>TIP IMPORTANTE: Antes de la sustentacion, abre PowerPoint, ve a esta slide, y reemplaza los dos placeholders grises con los PNG reales de reports/v1/.</a:t>
            </a:r>
          </a:p>
          <a:p/>
          <a:p>
            <a:r>
              <a:t>Si te queda tiempo, menciona la celda especifica: 'tenemos 442 verdaderos negativos, 450 verdaderos positivos, solo 95 errores en cada direccion'.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(60 segundos):</a:t>
            </a:r>
          </a:p>
          <a:p/>
          <a:p>
            <a:r>
              <a:t>'Una de las ventajas de usar un arbol de decision es que es interpretable. Podemos ver exactamente cuales variables usa el modelo para decidir.</a:t>
            </a:r>
          </a:p>
          <a:p/>
          <a:p>
            <a:r>
              <a:t>El hallazgo principal es que focus_index — el indice de concentracion — domina la decision. Esto tiene sentido: un estudiante puede pasar muchas horas en clase pero si no se concentra, no rinde.</a:t>
            </a:r>
          </a:p>
          <a:p/>
          <a:p>
            <a:r>
              <a:t>Le siguen las horas de estudio, el nivel de burnout, y la salud mental. Variables como tener trabajo de medio tiempo o deadlines proximas, que uno podria pensar que afectan, casi no influyen.</a:t>
            </a:r>
          </a:p>
          <a:p/>
          <a:p>
            <a:r>
              <a:t>El insight para negocio es claro: las intervenciones mas efectivas no son administrativas; son sobre concentracion y bienestar mental.'</a:t>
            </a:r>
          </a:p>
          <a:p/>
          <a:p>
            <a:r>
              <a:t>TIP: este es un buen momento para conectar con la pregunta de negocio del inicio. Cierra el arco narrativo.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(30 segundos):</a:t>
            </a:r>
          </a:p>
          <a:p/>
          <a:p>
            <a:r>
              <a:t>'Para cerrar: el proyecto entrega tres cosas. Un modelo predictivo solido con AUC de 0.93. Un componente prescriptivo de 5 reglas que traduce predicciones en recomendaciones accionables. Y una migracion completa desde Colab a un entorno modular con cerca de 100 tests automatizados.</a:t>
            </a:r>
          </a:p>
          <a:p/>
          <a:p>
            <a:r>
              <a:t>Quedo atento a sus preguntas.'</a:t>
            </a:r>
          </a:p>
          <a:p/>
          <a:p>
            <a:r>
              <a:t>TIP FINAL: termina con una pausa de 2 segundos antes de invitar a preguntas. No digas 'eso es todo'. Di 'quedo atento a sus preguntas' y sonrie.</a:t>
            </a:r>
          </a:p>
          <a:p/>
          <a:p>
            <a:r>
              <a:t>POSIBLES PREGUNTAS Y RESPUESTAS BREVES:</a:t>
            </a:r>
          </a:p>
          <a:p>
            <a:r>
              <a:t>- Por que arbol y no random forest? -&gt; interpretabilidad y   tamano del dataset.</a:t>
            </a:r>
          </a:p>
          <a:p>
            <a:r>
              <a:t>- Por que SMOTE si las clases estan balanceadas? -&gt; por   consistencia metodologica y para que funcione si en el futuro   cambia la distribucion.</a:t>
            </a:r>
          </a:p>
          <a:p>
            <a:r>
              <a:t>- Que pasa si una variable cambia de rango? -&gt; el schema con   pandera lo detecta en la carga y falla con mensaje claro.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2286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8656624" cy="1097280"/>
          </a:xfrm>
          <a:prstGeom prst="rect">
            <a:avLst/>
          </a:prstGeom>
          <a:noFill/>
        </p:spPr>
        <p:txBody>
          <a:bodyPr wrap="none">
            <a:spAutoFit/>
          </a:bodyPr>
          <a:lstStyle/>
          <a:p>
            <a:r>
              <a:rPr sz="3600" b="1">
                <a:solidFill>
                  <a:srgbClr val="FFFFFF"/>
                </a:solidFill>
              </a:rPr>
              <a:t>Prediccion de aprobacion estudiantil</a:t>
            </a:r>
          </a:p>
        </p:txBody>
      </p:sp>
      <p:sp>
        <p:nvSpPr>
          <p:cNvPr id="4" name="TextBox 3"/>
          <p:cNvSpPr txBox="1"/>
          <p:nvPr/>
        </p:nvSpPr>
        <p:spPr>
          <a:xfrm>
            <a:off x="548640" y="1554480"/>
            <a:ext cx="8656624" cy="548640"/>
          </a:xfrm>
          <a:prstGeom prst="rect">
            <a:avLst/>
          </a:prstGeom>
          <a:noFill/>
        </p:spPr>
        <p:txBody>
          <a:bodyPr wrap="none">
            <a:spAutoFit/>
          </a:bodyPr>
          <a:lstStyle/>
          <a:p>
            <a:r>
              <a:rPr sz="1800" b="0">
                <a:solidFill>
                  <a:srgbClr val="CFE2F3"/>
                </a:solidFill>
              </a:rPr>
              <a:t>Modelo de Machine Learning para identificar estudiantes en riesgo academico</a:t>
            </a:r>
          </a:p>
        </p:txBody>
      </p:sp>
      <p:sp>
        <p:nvSpPr>
          <p:cNvPr id="5" name="TextBox 4"/>
          <p:cNvSpPr txBox="1"/>
          <p:nvPr/>
        </p:nvSpPr>
        <p:spPr>
          <a:xfrm>
            <a:off x="548640" y="3200400"/>
            <a:ext cx="8656624" cy="1828800"/>
          </a:xfrm>
          <a:prstGeom prst="rect">
            <a:avLst/>
          </a:prstGeom>
          <a:noFill/>
        </p:spPr>
        <p:txBody>
          <a:bodyPr wrap="square">
            <a:spAutoFit/>
          </a:bodyPr>
          <a:lstStyle/>
          <a:p>
            <a:r>
              <a:rPr sz="2200" b="1">
                <a:solidFill>
                  <a:srgbClr val="1F4E79"/>
                </a:solidFill>
              </a:rPr>
              <a:t>Samuel Rendon Hincapie</a:t>
            </a:r>
          </a:p>
          <a:p>
            <a:pPr/>
            <a:r>
              <a:rPr sz="1600">
                <a:solidFill>
                  <a:srgbClr val="333333"/>
                </a:solidFill>
              </a:rPr>
              <a:t>Curso: Machine Learning</a:t>
            </a:r>
          </a:p>
          <a:p>
            <a:pPr/>
            <a:r>
              <a:rPr sz="1600">
                <a:solidFill>
                  <a:srgbClr val="333333"/>
                </a:solidFill>
              </a:rPr>
              <a:t>Institucion Universitaria Pascual Bravo</a:t>
            </a:r>
          </a:p>
          <a:p>
            <a:pPr/>
            <a:r>
              <a:rPr sz="1600">
                <a:solidFill>
                  <a:srgbClr val="333333"/>
                </a:solidFill>
              </a:rPr>
              <a:t>Trabajo Integrador de Aprendizaje - TIA3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9022384" cy="457200"/>
          </a:xfrm>
          <a:prstGeom prst="rect">
            <a:avLst/>
          </a:prstGeom>
          <a:noFill/>
        </p:spPr>
        <p:txBody>
          <a:bodyPr wrap="none">
            <a:spAutoFit/>
          </a:bodyPr>
          <a:lstStyle/>
          <a:p>
            <a:r>
              <a:rPr sz="2400" b="1">
                <a:solidFill>
                  <a:srgbClr val="FFFFFF"/>
                </a:solidFill>
              </a:rPr>
              <a:t>Pregunta de negocio</a:t>
            </a:r>
          </a:p>
        </p:txBody>
      </p:sp>
      <p:sp>
        <p:nvSpPr>
          <p:cNvPr id="4" name="Rounded Rectangle 3"/>
          <p:cNvSpPr/>
          <p:nvPr/>
        </p:nvSpPr>
        <p:spPr>
          <a:xfrm>
            <a:off x="731520" y="1280160"/>
            <a:ext cx="8290864" cy="1645920"/>
          </a:xfrm>
          <a:prstGeom prst="roundRect">
            <a:avLst/>
          </a:prstGeom>
          <a:solidFill>
            <a:srgbClr val="F2F2F2"/>
          </a:solidFill>
          <a:ln w="254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554480"/>
            <a:ext cx="7559344" cy="1280160"/>
          </a:xfrm>
          <a:prstGeom prst="rect">
            <a:avLst/>
          </a:prstGeom>
          <a:noFill/>
        </p:spPr>
        <p:txBody>
          <a:bodyPr wrap="square">
            <a:spAutoFit/>
          </a:bodyPr>
          <a:lstStyle/>
          <a:p>
            <a:r>
              <a:rPr sz="1800" b="0">
                <a:solidFill>
                  <a:srgbClr val="333333"/>
                </a:solidFill>
              </a:rPr>
              <a:t>"Deberia un estudiante cambiar sus habitos de estudio y vida social basandose en la prediccion de si aprobara o reprobara el examen final?"</a:t>
            </a:r>
          </a:p>
        </p:txBody>
      </p:sp>
      <p:sp>
        <p:nvSpPr>
          <p:cNvPr id="6" name="TextBox 5"/>
          <p:cNvSpPr txBox="1"/>
          <p:nvPr/>
        </p:nvSpPr>
        <p:spPr>
          <a:xfrm>
            <a:off x="731520" y="3291840"/>
            <a:ext cx="8290864" cy="2286000"/>
          </a:xfrm>
          <a:prstGeom prst="rect">
            <a:avLst/>
          </a:prstGeom>
          <a:noFill/>
        </p:spPr>
        <p:txBody>
          <a:bodyPr wrap="square">
            <a:spAutoFit/>
          </a:bodyPr>
          <a:lstStyle/>
          <a:p>
            <a:r>
              <a:rPr sz="1800" b="1">
                <a:solidFill>
                  <a:srgbClr val="1F4E79"/>
                </a:solidFill>
              </a:rPr>
              <a:t>Dataset Student Performance</a:t>
            </a:r>
          </a:p>
          <a:p>
            <a:pPr/>
            <a:r>
              <a:rPr sz="1500">
                <a:solidFill>
                  <a:srgbClr val="333333"/>
                </a:solidFill>
              </a:rPr>
              <a:t>5,000 estudiantes con 21 variables</a:t>
            </a:r>
          </a:p>
          <a:p>
            <a:pPr/>
            <a:r>
              <a:rPr sz="1500">
                <a:solidFill>
                  <a:srgbClr val="333333"/>
                </a:solidFill>
              </a:rPr>
              <a:t>Habitos diarios: estudio, sueno, redes sociales, gaming</a:t>
            </a:r>
          </a:p>
          <a:p>
            <a:pPr/>
            <a:r>
              <a:rPr sz="1500">
                <a:solidFill>
                  <a:srgbClr val="333333"/>
                </a:solidFill>
              </a:rPr>
              <a:t>Bienestar: salud mental, burnout, productividad</a:t>
            </a:r>
          </a:p>
          <a:p>
            <a:pPr/>
            <a:r>
              <a:rPr sz="1500">
                <a:solidFill>
                  <a:srgbClr val="333333"/>
                </a:solidFill>
              </a:rPr>
              <a:t>Contexto academico: nivel educativo, trabajo de medio tiempo, deadlines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9022384" cy="457200"/>
          </a:xfrm>
          <a:prstGeom prst="rect">
            <a:avLst/>
          </a:prstGeom>
          <a:noFill/>
        </p:spPr>
        <p:txBody>
          <a:bodyPr wrap="none">
            <a:spAutoFit/>
          </a:bodyPr>
          <a:lstStyle/>
          <a:p>
            <a:r>
              <a:rPr sz="2400" b="1">
                <a:solidFill>
                  <a:srgbClr val="FFFFFF"/>
                </a:solidFill>
              </a:rPr>
              <a:t>Variables del modelo (13 features)</a:t>
            </a:r>
          </a:p>
        </p:txBody>
      </p:sp>
      <p:sp>
        <p:nvSpPr>
          <p:cNvPr id="4" name="Rectangle 3"/>
          <p:cNvSpPr/>
          <p:nvPr/>
        </p:nvSpPr>
        <p:spPr>
          <a:xfrm>
            <a:off x="457200" y="1188720"/>
            <a:ext cx="2702661"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2702661" cy="365760"/>
          </a:xfrm>
          <a:prstGeom prst="rect">
            <a:avLst/>
          </a:prstGeom>
          <a:noFill/>
        </p:spPr>
        <p:txBody>
          <a:bodyPr wrap="none">
            <a:spAutoFit/>
          </a:bodyPr>
          <a:lstStyle/>
          <a:p>
            <a:pPr algn="ctr"/>
            <a:r>
              <a:rPr sz="1400" b="1">
                <a:solidFill>
                  <a:srgbClr val="FFFFFF"/>
                </a:solidFill>
              </a:rPr>
              <a:t>Habitos de estudio</a:t>
            </a:r>
          </a:p>
        </p:txBody>
      </p:sp>
      <p:sp>
        <p:nvSpPr>
          <p:cNvPr id="6" name="TextBox 5"/>
          <p:cNvSpPr txBox="1"/>
          <p:nvPr/>
        </p:nvSpPr>
        <p:spPr>
          <a:xfrm>
            <a:off x="457200" y="1828800"/>
            <a:ext cx="2702661" cy="4114800"/>
          </a:xfrm>
          <a:prstGeom prst="rect">
            <a:avLst/>
          </a:prstGeom>
          <a:noFill/>
        </p:spPr>
        <p:txBody>
          <a:bodyPr wrap="square">
            <a:spAutoFit/>
          </a:bodyPr>
          <a:lstStyle/>
          <a:p>
            <a:r>
              <a:rPr sz="1400" b="0">
                <a:solidFill>
                  <a:srgbClr val="333333"/>
                </a:solidFill>
              </a:rPr>
              <a:t>study_hours</a:t>
            </a:r>
          </a:p>
          <a:p>
            <a:pPr/>
            <a:r>
              <a:rPr sz="1400">
                <a:solidFill>
                  <a:srgbClr val="333333"/>
                </a:solidFill>
              </a:rPr>
              <a:t>self_study_hours</a:t>
            </a:r>
          </a:p>
          <a:p>
            <a:pPr/>
            <a:r>
              <a:rPr sz="1400">
                <a:solidFill>
                  <a:srgbClr val="333333"/>
                </a:solidFill>
              </a:rPr>
              <a:t>social_media_hours</a:t>
            </a:r>
          </a:p>
          <a:p>
            <a:pPr/>
            <a:r>
              <a:rPr sz="1400">
                <a:solidFill>
                  <a:srgbClr val="333333"/>
                </a:solidFill>
              </a:rPr>
              <a:t>screen_time_hours</a:t>
            </a:r>
          </a:p>
        </p:txBody>
      </p:sp>
      <p:sp>
        <p:nvSpPr>
          <p:cNvPr id="7" name="Rectangle 6"/>
          <p:cNvSpPr/>
          <p:nvPr/>
        </p:nvSpPr>
        <p:spPr>
          <a:xfrm>
            <a:off x="3342741" y="1188720"/>
            <a:ext cx="2702661"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42741" y="1234440"/>
            <a:ext cx="2702661" cy="365760"/>
          </a:xfrm>
          <a:prstGeom prst="rect">
            <a:avLst/>
          </a:prstGeom>
          <a:noFill/>
        </p:spPr>
        <p:txBody>
          <a:bodyPr wrap="none">
            <a:spAutoFit/>
          </a:bodyPr>
          <a:lstStyle/>
          <a:p>
            <a:pPr algn="ctr"/>
            <a:r>
              <a:rPr sz="1400" b="1">
                <a:solidFill>
                  <a:srgbClr val="FFFFFF"/>
                </a:solidFill>
              </a:rPr>
              <a:t>Bienestar fisico</a:t>
            </a:r>
          </a:p>
        </p:txBody>
      </p:sp>
      <p:sp>
        <p:nvSpPr>
          <p:cNvPr id="9" name="TextBox 8"/>
          <p:cNvSpPr txBox="1"/>
          <p:nvPr/>
        </p:nvSpPr>
        <p:spPr>
          <a:xfrm>
            <a:off x="3342741" y="1828800"/>
            <a:ext cx="2702661" cy="4114800"/>
          </a:xfrm>
          <a:prstGeom prst="rect">
            <a:avLst/>
          </a:prstGeom>
          <a:noFill/>
        </p:spPr>
        <p:txBody>
          <a:bodyPr wrap="square">
            <a:spAutoFit/>
          </a:bodyPr>
          <a:lstStyle/>
          <a:p>
            <a:r>
              <a:rPr sz="1400" b="0">
                <a:solidFill>
                  <a:srgbClr val="333333"/>
                </a:solidFill>
              </a:rPr>
              <a:t>sleep_hours</a:t>
            </a:r>
          </a:p>
          <a:p>
            <a:pPr/>
            <a:r>
              <a:rPr sz="1400">
                <a:solidFill>
                  <a:srgbClr val="333333"/>
                </a:solidFill>
              </a:rPr>
              <a:t>exercise_minutes</a:t>
            </a:r>
          </a:p>
          <a:p>
            <a:pPr/>
            <a:r>
              <a:rPr sz="1400">
                <a:solidFill>
                  <a:srgbClr val="333333"/>
                </a:solidFill>
              </a:rPr>
              <a:t>caffeine_intake_mg</a:t>
            </a:r>
          </a:p>
        </p:txBody>
      </p:sp>
      <p:sp>
        <p:nvSpPr>
          <p:cNvPr id="10" name="Rectangle 9"/>
          <p:cNvSpPr/>
          <p:nvPr/>
        </p:nvSpPr>
        <p:spPr>
          <a:xfrm>
            <a:off x="6228282" y="1188720"/>
            <a:ext cx="2702661" cy="4572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8282" y="1234440"/>
            <a:ext cx="2702661" cy="365760"/>
          </a:xfrm>
          <a:prstGeom prst="rect">
            <a:avLst/>
          </a:prstGeom>
          <a:noFill/>
        </p:spPr>
        <p:txBody>
          <a:bodyPr wrap="none">
            <a:spAutoFit/>
          </a:bodyPr>
          <a:lstStyle/>
          <a:p>
            <a:pPr algn="ctr"/>
            <a:r>
              <a:rPr sz="1400" b="1">
                <a:solidFill>
                  <a:srgbClr val="FFFFFF"/>
                </a:solidFill>
              </a:rPr>
              <a:t>Contexto + indicadores</a:t>
            </a:r>
          </a:p>
        </p:txBody>
      </p:sp>
      <p:sp>
        <p:nvSpPr>
          <p:cNvPr id="12" name="TextBox 11"/>
          <p:cNvSpPr txBox="1"/>
          <p:nvPr/>
        </p:nvSpPr>
        <p:spPr>
          <a:xfrm>
            <a:off x="6228282" y="1828800"/>
            <a:ext cx="2702661" cy="4114800"/>
          </a:xfrm>
          <a:prstGeom prst="rect">
            <a:avLst/>
          </a:prstGeom>
          <a:noFill/>
        </p:spPr>
        <p:txBody>
          <a:bodyPr wrap="square">
            <a:spAutoFit/>
          </a:bodyPr>
          <a:lstStyle/>
          <a:p>
            <a:r>
              <a:rPr sz="1400" b="0">
                <a:solidFill>
                  <a:srgbClr val="333333"/>
                </a:solidFill>
              </a:rPr>
              <a:t>part_time_job</a:t>
            </a:r>
          </a:p>
          <a:p>
            <a:pPr/>
            <a:r>
              <a:rPr sz="1400">
                <a:solidFill>
                  <a:srgbClr val="333333"/>
                </a:solidFill>
              </a:rPr>
              <a:t>upcoming_deadline</a:t>
            </a:r>
          </a:p>
          <a:p>
            <a:pPr/>
            <a:r>
              <a:rPr sz="1400">
                <a:solidFill>
                  <a:srgbClr val="333333"/>
                </a:solidFill>
              </a:rPr>
              <a:t>mental_health_score</a:t>
            </a:r>
          </a:p>
          <a:p>
            <a:pPr/>
            <a:r>
              <a:rPr sz="1400">
                <a:solidFill>
                  <a:srgbClr val="333333"/>
                </a:solidFill>
              </a:rPr>
              <a:t>focus_index</a:t>
            </a:r>
          </a:p>
          <a:p>
            <a:pPr/>
            <a:r>
              <a:rPr sz="1400">
                <a:solidFill>
                  <a:srgbClr val="333333"/>
                </a:solidFill>
              </a:rPr>
              <a:t>burnout_level</a:t>
            </a:r>
          </a:p>
          <a:p>
            <a:pPr/>
            <a:r>
              <a:rPr sz="1400">
                <a:solidFill>
                  <a:srgbClr val="333333"/>
                </a:solidFill>
              </a:rPr>
              <a:t>productivity_score</a:t>
            </a:r>
          </a:p>
        </p:txBody>
      </p:sp>
      <p:sp>
        <p:nvSpPr>
          <p:cNvPr id="13" name="TextBox 12"/>
          <p:cNvSpPr txBox="1"/>
          <p:nvPr/>
        </p:nvSpPr>
        <p:spPr>
          <a:xfrm>
            <a:off x="365760" y="5943600"/>
            <a:ext cx="9022384" cy="548640"/>
          </a:xfrm>
          <a:prstGeom prst="rect">
            <a:avLst/>
          </a:prstGeom>
          <a:noFill/>
        </p:spPr>
        <p:txBody>
          <a:bodyPr wrap="none">
            <a:spAutoFit/>
          </a:bodyPr>
          <a:lstStyle/>
          <a:p>
            <a:pPr algn="ctr"/>
            <a:r>
              <a:rPr sz="1200" b="0">
                <a:solidFill>
                  <a:srgbClr val="333333"/>
                </a:solidFill>
              </a:rPr>
              <a:t>Variable objetivo: aprobado (1) / reprueba (0) — binarizada desde exam_score con umbral mediana = 18.01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9022384" cy="457200"/>
          </a:xfrm>
          <a:prstGeom prst="rect">
            <a:avLst/>
          </a:prstGeom>
          <a:noFill/>
        </p:spPr>
        <p:txBody>
          <a:bodyPr wrap="none">
            <a:spAutoFit/>
          </a:bodyPr>
          <a:lstStyle/>
          <a:p>
            <a:r>
              <a:rPr sz="2400" b="1">
                <a:solidFill>
                  <a:srgbClr val="FFFFFF"/>
                </a:solidFill>
              </a:rPr>
              <a:t>Pipeline del modelo</a:t>
            </a:r>
          </a:p>
        </p:txBody>
      </p:sp>
      <p:sp>
        <p:nvSpPr>
          <p:cNvPr id="4" name="Rounded Rectangle 3"/>
          <p:cNvSpPr/>
          <p:nvPr/>
        </p:nvSpPr>
        <p:spPr>
          <a:xfrm>
            <a:off x="457200" y="1828800"/>
            <a:ext cx="2377440" cy="109728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920240"/>
            <a:ext cx="2377440" cy="914400"/>
          </a:xfrm>
          <a:prstGeom prst="rect">
            <a:avLst/>
          </a:prstGeom>
          <a:noFill/>
        </p:spPr>
        <p:txBody>
          <a:bodyPr wrap="square">
            <a:spAutoFit/>
          </a:bodyPr>
          <a:lstStyle/>
          <a:p>
            <a:pPr algn="ctr"/>
            <a:r>
              <a:rPr sz="1400" b="1">
                <a:solidFill>
                  <a:srgbClr val="FFFFFF"/>
                </a:solidFill>
              </a:rPr>
              <a:t>StandardScaler</a:t>
            </a:r>
          </a:p>
          <a:p>
            <a:pPr algn="ctr"/>
            <a:r>
              <a:rPr sz="1100">
                <a:solidFill>
                  <a:srgbClr val="FFFFFF"/>
                </a:solidFill>
              </a:rPr>
              <a:t>Escalado de
las 13 features</a:t>
            </a:r>
          </a:p>
        </p:txBody>
      </p:sp>
      <p:sp>
        <p:nvSpPr>
          <p:cNvPr id="6" name="Right Arrow 5"/>
          <p:cNvSpPr/>
          <p:nvPr/>
        </p:nvSpPr>
        <p:spPr>
          <a:xfrm>
            <a:off x="2852928" y="2240280"/>
            <a:ext cx="237744" cy="27432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108960" y="1828800"/>
            <a:ext cx="2377440" cy="10972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08960" y="1920240"/>
            <a:ext cx="2377440" cy="914400"/>
          </a:xfrm>
          <a:prstGeom prst="rect">
            <a:avLst/>
          </a:prstGeom>
          <a:noFill/>
        </p:spPr>
        <p:txBody>
          <a:bodyPr wrap="square">
            <a:spAutoFit/>
          </a:bodyPr>
          <a:lstStyle/>
          <a:p>
            <a:pPr algn="ctr"/>
            <a:r>
              <a:rPr sz="1400" b="1">
                <a:solidFill>
                  <a:srgbClr val="FFFFFF"/>
                </a:solidFill>
              </a:rPr>
              <a:t>SMOTE</a:t>
            </a:r>
          </a:p>
          <a:p>
            <a:pPr algn="ctr"/>
            <a:r>
              <a:rPr sz="1100">
                <a:solidFill>
                  <a:srgbClr val="FFFFFF"/>
                </a:solidFill>
              </a:rPr>
              <a:t>Balanceo de
clases (solo fit)</a:t>
            </a:r>
          </a:p>
        </p:txBody>
      </p:sp>
      <p:sp>
        <p:nvSpPr>
          <p:cNvPr id="9" name="Right Arrow 8"/>
          <p:cNvSpPr/>
          <p:nvPr/>
        </p:nvSpPr>
        <p:spPr>
          <a:xfrm>
            <a:off x="5504688" y="2240280"/>
            <a:ext cx="237744" cy="27432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760720" y="1828800"/>
            <a:ext cx="2377440" cy="10972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0" y="1920240"/>
            <a:ext cx="2377440" cy="914400"/>
          </a:xfrm>
          <a:prstGeom prst="rect">
            <a:avLst/>
          </a:prstGeom>
          <a:noFill/>
        </p:spPr>
        <p:txBody>
          <a:bodyPr wrap="square">
            <a:spAutoFit/>
          </a:bodyPr>
          <a:lstStyle/>
          <a:p>
            <a:pPr algn="ctr"/>
            <a:r>
              <a:rPr sz="1400" b="1">
                <a:solidFill>
                  <a:srgbClr val="FFFFFF"/>
                </a:solidFill>
              </a:rPr>
              <a:t>DecisionTreeClassifier</a:t>
            </a:r>
          </a:p>
          <a:p>
            <a:pPr algn="ctr"/>
            <a:r>
              <a:rPr sz="1100">
                <a:solidFill>
                  <a:srgbClr val="FFFFFF"/>
                </a:solidFill>
              </a:rPr>
              <a:t>max_depth=5
random_state=42</a:t>
            </a:r>
          </a:p>
        </p:txBody>
      </p:sp>
      <p:sp>
        <p:nvSpPr>
          <p:cNvPr id="12" name="Rectangle 11"/>
          <p:cNvSpPr/>
          <p:nvPr/>
        </p:nvSpPr>
        <p:spPr>
          <a:xfrm>
            <a:off x="457200" y="3657600"/>
            <a:ext cx="8839504" cy="23774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94760"/>
            <a:ext cx="8473744" cy="2194560"/>
          </a:xfrm>
          <a:prstGeom prst="rect">
            <a:avLst/>
          </a:prstGeom>
          <a:noFill/>
        </p:spPr>
        <p:txBody>
          <a:bodyPr wrap="square">
            <a:spAutoFit/>
          </a:bodyPr>
          <a:lstStyle/>
          <a:p>
            <a:r>
              <a:rPr sz="1400" b="0">
                <a:solidFill>
                  <a:srgbClr val="E8E8E8"/>
                </a:solidFill>
                <a:latin typeface="Consolas"/>
              </a:rPr>
              <a:t>pipeline = Pipeline([
    ("preproc", StandardScaler()),
    ("smote", SMOTE(random_state=42)),
    ("classifier", DecisionTreeClassifier(max_depth=5)),
])
pipeline.fit(X_train, y_train)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9022384" cy="457200"/>
          </a:xfrm>
          <a:prstGeom prst="rect">
            <a:avLst/>
          </a:prstGeom>
          <a:noFill/>
        </p:spPr>
        <p:txBody>
          <a:bodyPr wrap="none">
            <a:spAutoFit/>
          </a:bodyPr>
          <a:lstStyle/>
          <a:p>
            <a:r>
              <a:rPr sz="2400" b="1">
                <a:solidFill>
                  <a:srgbClr val="FFFFFF"/>
                </a:solidFill>
              </a:rPr>
              <a:t>Resultados del modelo</a:t>
            </a:r>
          </a:p>
        </p:txBody>
      </p:sp>
      <p:sp>
        <p:nvSpPr>
          <p:cNvPr id="4" name="Rounded Rectangle 3"/>
          <p:cNvSpPr/>
          <p:nvPr/>
        </p:nvSpPr>
        <p:spPr>
          <a:xfrm>
            <a:off x="365760" y="1280160"/>
            <a:ext cx="1691640" cy="2011680"/>
          </a:xfrm>
          <a:prstGeom prst="roundRect">
            <a:avLst/>
          </a:prstGeom>
          <a:solidFill>
            <a:srgbClr val="FFFFFF"/>
          </a:solidFill>
          <a:ln w="254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417320"/>
            <a:ext cx="1691640" cy="365760"/>
          </a:xfrm>
          <a:prstGeom prst="rect">
            <a:avLst/>
          </a:prstGeom>
          <a:noFill/>
        </p:spPr>
        <p:txBody>
          <a:bodyPr wrap="none">
            <a:spAutoFit/>
          </a:bodyPr>
          <a:lstStyle/>
          <a:p>
            <a:pPr algn="ctr"/>
            <a:r>
              <a:rPr sz="1400" b="1">
                <a:solidFill>
                  <a:srgbClr val="1F4E79"/>
                </a:solidFill>
              </a:rPr>
              <a:t>Accuracy</a:t>
            </a:r>
          </a:p>
        </p:txBody>
      </p:sp>
      <p:sp>
        <p:nvSpPr>
          <p:cNvPr id="6" name="TextBox 5"/>
          <p:cNvSpPr txBox="1"/>
          <p:nvPr/>
        </p:nvSpPr>
        <p:spPr>
          <a:xfrm>
            <a:off x="365760" y="1874520"/>
            <a:ext cx="1691640" cy="914400"/>
          </a:xfrm>
          <a:prstGeom prst="rect">
            <a:avLst/>
          </a:prstGeom>
          <a:noFill/>
        </p:spPr>
        <p:txBody>
          <a:bodyPr wrap="none">
            <a:spAutoFit/>
          </a:bodyPr>
          <a:lstStyle/>
          <a:p>
            <a:pPr algn="ctr"/>
            <a:r>
              <a:rPr sz="4200" b="1">
                <a:solidFill>
                  <a:srgbClr val="2E7D32"/>
                </a:solidFill>
              </a:rPr>
              <a:t>0.842</a:t>
            </a:r>
          </a:p>
        </p:txBody>
      </p:sp>
      <p:sp>
        <p:nvSpPr>
          <p:cNvPr id="7" name="TextBox 6"/>
          <p:cNvSpPr txBox="1"/>
          <p:nvPr/>
        </p:nvSpPr>
        <p:spPr>
          <a:xfrm>
            <a:off x="411480" y="2788920"/>
            <a:ext cx="1600200" cy="457200"/>
          </a:xfrm>
          <a:prstGeom prst="rect">
            <a:avLst/>
          </a:prstGeom>
          <a:noFill/>
        </p:spPr>
        <p:txBody>
          <a:bodyPr wrap="square">
            <a:spAutoFit/>
          </a:bodyPr>
          <a:lstStyle/>
          <a:p>
            <a:pPr algn="ctr"/>
            <a:r>
              <a:rPr sz="1000" b="0">
                <a:solidFill>
                  <a:srgbClr val="333333"/>
                </a:solidFill>
              </a:rPr>
              <a:t>Predicciones correctas</a:t>
            </a:r>
          </a:p>
        </p:txBody>
      </p:sp>
      <p:sp>
        <p:nvSpPr>
          <p:cNvPr id="8" name="Rounded Rectangle 7"/>
          <p:cNvSpPr/>
          <p:nvPr/>
        </p:nvSpPr>
        <p:spPr>
          <a:xfrm>
            <a:off x="2103120" y="1280160"/>
            <a:ext cx="1691640" cy="2011680"/>
          </a:xfrm>
          <a:prstGeom prst="roundRect">
            <a:avLst/>
          </a:prstGeom>
          <a:solidFill>
            <a:srgbClr val="FFFFFF"/>
          </a:solidFill>
          <a:ln w="254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03120" y="1417320"/>
            <a:ext cx="1691640" cy="365760"/>
          </a:xfrm>
          <a:prstGeom prst="rect">
            <a:avLst/>
          </a:prstGeom>
          <a:noFill/>
        </p:spPr>
        <p:txBody>
          <a:bodyPr wrap="none">
            <a:spAutoFit/>
          </a:bodyPr>
          <a:lstStyle/>
          <a:p>
            <a:pPr algn="ctr"/>
            <a:r>
              <a:rPr sz="1400" b="1">
                <a:solidFill>
                  <a:srgbClr val="1F4E79"/>
                </a:solidFill>
              </a:rPr>
              <a:t>Precision</a:t>
            </a:r>
          </a:p>
        </p:txBody>
      </p:sp>
      <p:sp>
        <p:nvSpPr>
          <p:cNvPr id="10" name="TextBox 9"/>
          <p:cNvSpPr txBox="1"/>
          <p:nvPr/>
        </p:nvSpPr>
        <p:spPr>
          <a:xfrm>
            <a:off x="2103120" y="1874520"/>
            <a:ext cx="1691640" cy="914400"/>
          </a:xfrm>
          <a:prstGeom prst="rect">
            <a:avLst/>
          </a:prstGeom>
          <a:noFill/>
        </p:spPr>
        <p:txBody>
          <a:bodyPr wrap="none">
            <a:spAutoFit/>
          </a:bodyPr>
          <a:lstStyle/>
          <a:p>
            <a:pPr algn="ctr"/>
            <a:r>
              <a:rPr sz="4200" b="1">
                <a:solidFill>
                  <a:srgbClr val="2E7D32"/>
                </a:solidFill>
              </a:rPr>
              <a:t>0.825</a:t>
            </a:r>
          </a:p>
        </p:txBody>
      </p:sp>
      <p:sp>
        <p:nvSpPr>
          <p:cNvPr id="11" name="TextBox 10"/>
          <p:cNvSpPr txBox="1"/>
          <p:nvPr/>
        </p:nvSpPr>
        <p:spPr>
          <a:xfrm>
            <a:off x="2148840" y="2788920"/>
            <a:ext cx="1600200" cy="457200"/>
          </a:xfrm>
          <a:prstGeom prst="rect">
            <a:avLst/>
          </a:prstGeom>
          <a:noFill/>
        </p:spPr>
        <p:txBody>
          <a:bodyPr wrap="square">
            <a:spAutoFit/>
          </a:bodyPr>
          <a:lstStyle/>
          <a:p>
            <a:pPr algn="ctr"/>
            <a:r>
              <a:rPr sz="1000" b="0">
                <a:solidFill>
                  <a:srgbClr val="333333"/>
                </a:solidFill>
              </a:rPr>
              <a:t>Calidad de alertas</a:t>
            </a:r>
          </a:p>
        </p:txBody>
      </p:sp>
      <p:sp>
        <p:nvSpPr>
          <p:cNvPr id="12" name="Rounded Rectangle 11"/>
          <p:cNvSpPr/>
          <p:nvPr/>
        </p:nvSpPr>
        <p:spPr>
          <a:xfrm>
            <a:off x="3840480" y="1280160"/>
            <a:ext cx="1691640" cy="2011680"/>
          </a:xfrm>
          <a:prstGeom prst="roundRect">
            <a:avLst/>
          </a:prstGeom>
          <a:solidFill>
            <a:srgbClr val="FFFFFF"/>
          </a:solidFill>
          <a:ln w="254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0" y="1417320"/>
            <a:ext cx="1691640" cy="365760"/>
          </a:xfrm>
          <a:prstGeom prst="rect">
            <a:avLst/>
          </a:prstGeom>
          <a:noFill/>
        </p:spPr>
        <p:txBody>
          <a:bodyPr wrap="none">
            <a:spAutoFit/>
          </a:bodyPr>
          <a:lstStyle/>
          <a:p>
            <a:pPr algn="ctr"/>
            <a:r>
              <a:rPr sz="1400" b="1">
                <a:solidFill>
                  <a:srgbClr val="1F4E79"/>
                </a:solidFill>
              </a:rPr>
              <a:t>Recall</a:t>
            </a:r>
          </a:p>
        </p:txBody>
      </p:sp>
      <p:sp>
        <p:nvSpPr>
          <p:cNvPr id="14" name="TextBox 13"/>
          <p:cNvSpPr txBox="1"/>
          <p:nvPr/>
        </p:nvSpPr>
        <p:spPr>
          <a:xfrm>
            <a:off x="3840480" y="1874520"/>
            <a:ext cx="1691640" cy="914400"/>
          </a:xfrm>
          <a:prstGeom prst="rect">
            <a:avLst/>
          </a:prstGeom>
          <a:noFill/>
        </p:spPr>
        <p:txBody>
          <a:bodyPr wrap="none">
            <a:spAutoFit/>
          </a:bodyPr>
          <a:lstStyle/>
          <a:p>
            <a:pPr algn="ctr"/>
            <a:r>
              <a:rPr sz="4200" b="1">
                <a:solidFill>
                  <a:srgbClr val="2E7D32"/>
                </a:solidFill>
              </a:rPr>
              <a:t>0.868</a:t>
            </a:r>
          </a:p>
        </p:txBody>
      </p:sp>
      <p:sp>
        <p:nvSpPr>
          <p:cNvPr id="15" name="TextBox 14"/>
          <p:cNvSpPr txBox="1"/>
          <p:nvPr/>
        </p:nvSpPr>
        <p:spPr>
          <a:xfrm>
            <a:off x="3886200" y="2788920"/>
            <a:ext cx="1600200" cy="457200"/>
          </a:xfrm>
          <a:prstGeom prst="rect">
            <a:avLst/>
          </a:prstGeom>
          <a:noFill/>
        </p:spPr>
        <p:txBody>
          <a:bodyPr wrap="square">
            <a:spAutoFit/>
          </a:bodyPr>
          <a:lstStyle/>
          <a:p>
            <a:pPr algn="ctr"/>
            <a:r>
              <a:rPr sz="1000" b="0">
                <a:solidFill>
                  <a:srgbClr val="333333"/>
                </a:solidFill>
              </a:rPr>
              <a:t>Cobertura de casos reales</a:t>
            </a:r>
          </a:p>
        </p:txBody>
      </p:sp>
      <p:sp>
        <p:nvSpPr>
          <p:cNvPr id="16" name="Rounded Rectangle 15"/>
          <p:cNvSpPr/>
          <p:nvPr/>
        </p:nvSpPr>
        <p:spPr>
          <a:xfrm>
            <a:off x="5577840" y="1280160"/>
            <a:ext cx="1691640" cy="2011680"/>
          </a:xfrm>
          <a:prstGeom prst="roundRect">
            <a:avLst/>
          </a:prstGeom>
          <a:solidFill>
            <a:srgbClr val="FFFFFF"/>
          </a:solidFill>
          <a:ln w="254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1417320"/>
            <a:ext cx="1691640" cy="365760"/>
          </a:xfrm>
          <a:prstGeom prst="rect">
            <a:avLst/>
          </a:prstGeom>
          <a:noFill/>
        </p:spPr>
        <p:txBody>
          <a:bodyPr wrap="none">
            <a:spAutoFit/>
          </a:bodyPr>
          <a:lstStyle/>
          <a:p>
            <a:pPr algn="ctr"/>
            <a:r>
              <a:rPr sz="1400" b="1">
                <a:solidFill>
                  <a:srgbClr val="1F4E79"/>
                </a:solidFill>
              </a:rPr>
              <a:t>F1-Score</a:t>
            </a:r>
          </a:p>
        </p:txBody>
      </p:sp>
      <p:sp>
        <p:nvSpPr>
          <p:cNvPr id="18" name="TextBox 17"/>
          <p:cNvSpPr txBox="1"/>
          <p:nvPr/>
        </p:nvSpPr>
        <p:spPr>
          <a:xfrm>
            <a:off x="5577840" y="1874520"/>
            <a:ext cx="1691640" cy="914400"/>
          </a:xfrm>
          <a:prstGeom prst="rect">
            <a:avLst/>
          </a:prstGeom>
          <a:noFill/>
        </p:spPr>
        <p:txBody>
          <a:bodyPr wrap="none">
            <a:spAutoFit/>
          </a:bodyPr>
          <a:lstStyle/>
          <a:p>
            <a:pPr algn="ctr"/>
            <a:r>
              <a:rPr sz="4200" b="1">
                <a:solidFill>
                  <a:srgbClr val="2E7D32"/>
                </a:solidFill>
              </a:rPr>
              <a:t>0.846</a:t>
            </a:r>
          </a:p>
        </p:txBody>
      </p:sp>
      <p:sp>
        <p:nvSpPr>
          <p:cNvPr id="19" name="TextBox 18"/>
          <p:cNvSpPr txBox="1"/>
          <p:nvPr/>
        </p:nvSpPr>
        <p:spPr>
          <a:xfrm>
            <a:off x="5623560" y="2788920"/>
            <a:ext cx="1600200" cy="457200"/>
          </a:xfrm>
          <a:prstGeom prst="rect">
            <a:avLst/>
          </a:prstGeom>
          <a:noFill/>
        </p:spPr>
        <p:txBody>
          <a:bodyPr wrap="square">
            <a:spAutoFit/>
          </a:bodyPr>
          <a:lstStyle/>
          <a:p>
            <a:pPr algn="ctr"/>
            <a:r>
              <a:rPr sz="1000" b="0">
                <a:solidFill>
                  <a:srgbClr val="333333"/>
                </a:solidFill>
              </a:rPr>
              <a:t>Balance precision/recall</a:t>
            </a:r>
          </a:p>
        </p:txBody>
      </p:sp>
      <p:sp>
        <p:nvSpPr>
          <p:cNvPr id="20" name="Rounded Rectangle 19"/>
          <p:cNvSpPr/>
          <p:nvPr/>
        </p:nvSpPr>
        <p:spPr>
          <a:xfrm>
            <a:off x="7315200" y="1280160"/>
            <a:ext cx="1691640" cy="2011680"/>
          </a:xfrm>
          <a:prstGeom prst="roundRect">
            <a:avLst/>
          </a:prstGeom>
          <a:solidFill>
            <a:srgbClr val="FFFFFF"/>
          </a:solidFill>
          <a:ln w="254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417320"/>
            <a:ext cx="1691640" cy="365760"/>
          </a:xfrm>
          <a:prstGeom prst="rect">
            <a:avLst/>
          </a:prstGeom>
          <a:noFill/>
        </p:spPr>
        <p:txBody>
          <a:bodyPr wrap="none">
            <a:spAutoFit/>
          </a:bodyPr>
          <a:lstStyle/>
          <a:p>
            <a:pPr algn="ctr"/>
            <a:r>
              <a:rPr sz="1400" b="1">
                <a:solidFill>
                  <a:srgbClr val="1F4E79"/>
                </a:solidFill>
              </a:rPr>
              <a:t>AUC-ROC</a:t>
            </a:r>
          </a:p>
        </p:txBody>
      </p:sp>
      <p:sp>
        <p:nvSpPr>
          <p:cNvPr id="22" name="TextBox 21"/>
          <p:cNvSpPr txBox="1"/>
          <p:nvPr/>
        </p:nvSpPr>
        <p:spPr>
          <a:xfrm>
            <a:off x="7315200" y="1874520"/>
            <a:ext cx="1691640" cy="914400"/>
          </a:xfrm>
          <a:prstGeom prst="rect">
            <a:avLst/>
          </a:prstGeom>
          <a:noFill/>
        </p:spPr>
        <p:txBody>
          <a:bodyPr wrap="none">
            <a:spAutoFit/>
          </a:bodyPr>
          <a:lstStyle/>
          <a:p>
            <a:pPr algn="ctr"/>
            <a:r>
              <a:rPr sz="4200" b="1">
                <a:solidFill>
                  <a:srgbClr val="2E7D32"/>
                </a:solidFill>
              </a:rPr>
              <a:t>0.933</a:t>
            </a:r>
          </a:p>
        </p:txBody>
      </p:sp>
      <p:sp>
        <p:nvSpPr>
          <p:cNvPr id="23" name="TextBox 22"/>
          <p:cNvSpPr txBox="1"/>
          <p:nvPr/>
        </p:nvSpPr>
        <p:spPr>
          <a:xfrm>
            <a:off x="7360920" y="2788920"/>
            <a:ext cx="1600200" cy="457200"/>
          </a:xfrm>
          <a:prstGeom prst="rect">
            <a:avLst/>
          </a:prstGeom>
          <a:noFill/>
        </p:spPr>
        <p:txBody>
          <a:bodyPr wrap="square">
            <a:spAutoFit/>
          </a:bodyPr>
          <a:lstStyle/>
          <a:p>
            <a:pPr algn="ctr"/>
            <a:r>
              <a:rPr sz="1000" b="0">
                <a:solidFill>
                  <a:srgbClr val="333333"/>
                </a:solidFill>
              </a:rPr>
              <a:t>Capacidad discriminativa</a:t>
            </a:r>
          </a:p>
        </p:txBody>
      </p:sp>
      <p:sp>
        <p:nvSpPr>
          <p:cNvPr id="24" name="Rounded Rectangle 23"/>
          <p:cNvSpPr/>
          <p:nvPr/>
        </p:nvSpPr>
        <p:spPr>
          <a:xfrm>
            <a:off x="365760" y="3657600"/>
            <a:ext cx="9022384" cy="2286000"/>
          </a:xfrm>
          <a:prstGeom prst="roundRect">
            <a:avLst/>
          </a:prstGeom>
          <a:solidFill>
            <a:srgbClr val="F2F2F2"/>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794760"/>
            <a:ext cx="8656624" cy="2103120"/>
          </a:xfrm>
          <a:prstGeom prst="rect">
            <a:avLst/>
          </a:prstGeom>
          <a:noFill/>
        </p:spPr>
        <p:txBody>
          <a:bodyPr wrap="square">
            <a:spAutoFit/>
          </a:bodyPr>
          <a:lstStyle/>
          <a:p>
            <a:r>
              <a:rPr sz="1500" b="1">
                <a:solidFill>
                  <a:srgbClr val="1F4E79"/>
                </a:solidFill>
              </a:rPr>
              <a:t>Interpretacion en lenguaje de negocio</a:t>
            </a:r>
          </a:p>
          <a:p>
            <a:pPr/>
            <a:r>
              <a:rPr sz="1300">
                <a:solidFill>
                  <a:srgbClr val="333333"/>
                </a:solidFill>
              </a:rPr>
              <a:t>El modelo identifica al 86.8% de los estudiantes que efectivamente reprobarian (recall alto)</a:t>
            </a:r>
          </a:p>
          <a:p>
            <a:pPr/>
            <a:r>
              <a:rPr sz="1300">
                <a:solidFill>
                  <a:srgbClr val="333333"/>
                </a:solidFill>
              </a:rPr>
              <a:t>De cada 100 alertas, 82 son correctas (precision alta -&gt; no saturamos al equipo de bienestar)</a:t>
            </a:r>
          </a:p>
          <a:p>
            <a:pPr/>
            <a:r>
              <a:rPr sz="1300">
                <a:solidFill>
                  <a:srgbClr val="333333"/>
                </a:solidFill>
              </a:rPr>
              <a:t>AUC-ROC de 0.93 indica capacidad discriminativa excelente, independiente del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9022384" cy="457200"/>
          </a:xfrm>
          <a:prstGeom prst="rect">
            <a:avLst/>
          </a:prstGeom>
          <a:noFill/>
        </p:spPr>
        <p:txBody>
          <a:bodyPr wrap="none">
            <a:spAutoFit/>
          </a:bodyPr>
          <a:lstStyle/>
          <a:p>
            <a:r>
              <a:rPr sz="2400" b="1">
                <a:solidFill>
                  <a:srgbClr val="FFFFFF"/>
                </a:solidFill>
              </a:rPr>
              <a:t>Matriz de confusion y curva ROC</a:t>
            </a:r>
          </a:p>
        </p:txBody>
      </p:sp>
      <p:sp>
        <p:nvSpPr>
          <p:cNvPr id="4" name="Rectangle 3"/>
          <p:cNvSpPr/>
          <p:nvPr/>
        </p:nvSpPr>
        <p:spPr>
          <a:xfrm>
            <a:off x="365760" y="1188720"/>
            <a:ext cx="4389120" cy="4389120"/>
          </a:xfrm>
          <a:prstGeom prst="rect">
            <a:avLst/>
          </a:prstGeom>
          <a:solidFill>
            <a:srgbClr val="F2F2F2"/>
          </a:solidFill>
          <a:ln>
            <a:solidFill>
              <a:srgbClr val="2E75B6"/>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0"/>
            <a:ext cx="4389120" cy="548640"/>
          </a:xfrm>
          <a:prstGeom prst="rect">
            <a:avLst/>
          </a:prstGeom>
          <a:noFill/>
        </p:spPr>
        <p:txBody>
          <a:bodyPr wrap="none">
            <a:spAutoFit/>
          </a:bodyPr>
          <a:lstStyle/>
          <a:p>
            <a:pPr algn="ctr"/>
            <a:r>
              <a:rPr sz="1400" b="0">
                <a:solidFill>
                  <a:srgbClr val="333333"/>
                </a:solidFill>
              </a:rPr>
              <a:t>[ Insertar: reports/v1/confusion_matrix.png ]</a:t>
            </a:r>
          </a:p>
        </p:txBody>
      </p:sp>
      <p:sp>
        <p:nvSpPr>
          <p:cNvPr id="6" name="TextBox 5"/>
          <p:cNvSpPr txBox="1"/>
          <p:nvPr/>
        </p:nvSpPr>
        <p:spPr>
          <a:xfrm>
            <a:off x="365760" y="5669280"/>
            <a:ext cx="4389120" cy="365760"/>
          </a:xfrm>
          <a:prstGeom prst="rect">
            <a:avLst/>
          </a:prstGeom>
          <a:noFill/>
        </p:spPr>
        <p:txBody>
          <a:bodyPr wrap="none">
            <a:spAutoFit/>
          </a:bodyPr>
          <a:lstStyle/>
          <a:p>
            <a:pPr algn="ctr"/>
            <a:r>
              <a:rPr sz="1400" b="1">
                <a:solidFill>
                  <a:srgbClr val="1F4E79"/>
                </a:solidFill>
              </a:rPr>
              <a:t>Matriz de confusion (test set)</a:t>
            </a:r>
          </a:p>
        </p:txBody>
      </p:sp>
      <p:sp>
        <p:nvSpPr>
          <p:cNvPr id="7" name="Rectangle 6"/>
          <p:cNvSpPr/>
          <p:nvPr/>
        </p:nvSpPr>
        <p:spPr>
          <a:xfrm>
            <a:off x="4937760" y="1188720"/>
            <a:ext cx="4389120" cy="4389120"/>
          </a:xfrm>
          <a:prstGeom prst="rect">
            <a:avLst/>
          </a:prstGeom>
          <a:solidFill>
            <a:srgbClr val="F2F2F2"/>
          </a:solidFill>
          <a:ln>
            <a:solidFill>
              <a:srgbClr val="2E75B6"/>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0" y="3108960"/>
            <a:ext cx="4389120" cy="548640"/>
          </a:xfrm>
          <a:prstGeom prst="rect">
            <a:avLst/>
          </a:prstGeom>
          <a:noFill/>
        </p:spPr>
        <p:txBody>
          <a:bodyPr wrap="none">
            <a:spAutoFit/>
          </a:bodyPr>
          <a:lstStyle/>
          <a:p>
            <a:pPr algn="ctr"/>
            <a:r>
              <a:rPr sz="1400" b="0">
                <a:solidFill>
                  <a:srgbClr val="333333"/>
                </a:solidFill>
              </a:rPr>
              <a:t>[ Insertar: reports/v1/roc_curve.png ]</a:t>
            </a:r>
          </a:p>
        </p:txBody>
      </p:sp>
      <p:sp>
        <p:nvSpPr>
          <p:cNvPr id="9" name="TextBox 8"/>
          <p:cNvSpPr txBox="1"/>
          <p:nvPr/>
        </p:nvSpPr>
        <p:spPr>
          <a:xfrm>
            <a:off x="4937760" y="5669280"/>
            <a:ext cx="4389120" cy="365760"/>
          </a:xfrm>
          <a:prstGeom prst="rect">
            <a:avLst/>
          </a:prstGeom>
          <a:noFill/>
        </p:spPr>
        <p:txBody>
          <a:bodyPr wrap="none">
            <a:spAutoFit/>
          </a:bodyPr>
          <a:lstStyle/>
          <a:p>
            <a:pPr algn="ctr"/>
            <a:r>
              <a:rPr sz="1400" b="1">
                <a:solidFill>
                  <a:srgbClr val="1F4E79"/>
                </a:solidFill>
              </a:rPr>
              <a:t>Curva ROC (AUC = 0.93)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9022384" cy="457200"/>
          </a:xfrm>
          <a:prstGeom prst="rect">
            <a:avLst/>
          </a:prstGeom>
          <a:noFill/>
        </p:spPr>
        <p:txBody>
          <a:bodyPr wrap="none">
            <a:spAutoFit/>
          </a:bodyPr>
          <a:lstStyle/>
          <a:p>
            <a:r>
              <a:rPr sz="2400" b="1">
                <a:solidFill>
                  <a:srgbClr val="FFFFFF"/>
                </a:solidFill>
              </a:rPr>
              <a:t>Variables que mas explican el resultado</a:t>
            </a:r>
          </a:p>
        </p:txBody>
      </p:sp>
      <p:sp>
        <p:nvSpPr>
          <p:cNvPr id="4" name="Rectangle 3"/>
          <p:cNvSpPr/>
          <p:nvPr/>
        </p:nvSpPr>
        <p:spPr>
          <a:xfrm>
            <a:off x="365760" y="1188720"/>
            <a:ext cx="5486400" cy="4572000"/>
          </a:xfrm>
          <a:prstGeom prst="rect">
            <a:avLst/>
          </a:prstGeom>
          <a:solidFill>
            <a:srgbClr val="F2F2F2"/>
          </a:solidFill>
          <a:ln>
            <a:solidFill>
              <a:srgbClr val="2E75B6"/>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0"/>
            <a:ext cx="5486400" cy="731520"/>
          </a:xfrm>
          <a:prstGeom prst="rect">
            <a:avLst/>
          </a:prstGeom>
          <a:noFill/>
        </p:spPr>
        <p:txBody>
          <a:bodyPr wrap="none">
            <a:spAutoFit/>
          </a:bodyPr>
          <a:lstStyle/>
          <a:p>
            <a:pPr algn="ctr"/>
            <a:r>
              <a:rPr sz="1400" b="0">
                <a:solidFill>
                  <a:srgbClr val="333333"/>
                </a:solidFill>
              </a:rPr>
              <a:t>[ Insertar: reports/v1/feature_importances.png ]</a:t>
            </a:r>
          </a:p>
        </p:txBody>
      </p:sp>
      <p:sp>
        <p:nvSpPr>
          <p:cNvPr id="6" name="TextBox 5"/>
          <p:cNvSpPr txBox="1"/>
          <p:nvPr/>
        </p:nvSpPr>
        <p:spPr>
          <a:xfrm>
            <a:off x="6126480" y="1280160"/>
            <a:ext cx="3200400" cy="5029200"/>
          </a:xfrm>
          <a:prstGeom prst="rect">
            <a:avLst/>
          </a:prstGeom>
          <a:noFill/>
        </p:spPr>
        <p:txBody>
          <a:bodyPr wrap="square">
            <a:spAutoFit/>
          </a:bodyPr>
          <a:lstStyle/>
          <a:p>
            <a:r>
              <a:rPr sz="1600" b="1">
                <a:solidFill>
                  <a:srgbClr val="1F4E79"/>
                </a:solidFill>
              </a:rPr>
              <a:t>Top hallazgos</a:t>
            </a:r>
          </a:p>
          <a:p>
            <a:pPr/>
            <a:r>
              <a:rPr sz="1300">
                <a:solidFill>
                  <a:srgbClr val="333333"/>
                </a:solidFill>
              </a:rPr>
              <a:t>focus_index domina la decision del modelo</a:t>
            </a:r>
          </a:p>
          <a:p>
            <a:pPr/>
            <a:r>
              <a:rPr sz="1300">
                <a:solidFill>
                  <a:srgbClr val="333333"/>
                </a:solidFill>
              </a:rPr>
              <a:t>Las horas de estudio importan, pero menos que la concentracion</a:t>
            </a:r>
          </a:p>
          <a:p>
            <a:pPr/>
            <a:r>
              <a:rPr sz="1300">
                <a:solidFill>
                  <a:srgbClr val="333333"/>
                </a:solidFill>
              </a:rPr>
              <a:t>burnout_level y mental_health_score son criticos</a:t>
            </a:r>
          </a:p>
          <a:p>
            <a:pPr/>
            <a:r>
              <a:rPr sz="1300">
                <a:solidFill>
                  <a:srgbClr val="333333"/>
                </a:solidFill>
              </a:rPr>
              <a:t>Variables como deadlines o trabajo de medio tiempo casi no influyen</a:t>
            </a:r>
          </a:p>
        </p:txBody>
      </p:sp>
      <p:sp>
        <p:nvSpPr>
          <p:cNvPr id="7" name="Rounded Rectangle 6"/>
          <p:cNvSpPr/>
          <p:nvPr/>
        </p:nvSpPr>
        <p:spPr>
          <a:xfrm>
            <a:off x="6126480" y="4754880"/>
            <a:ext cx="3200400" cy="128016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4846320"/>
            <a:ext cx="3017520" cy="1097280"/>
          </a:xfrm>
          <a:prstGeom prst="rect">
            <a:avLst/>
          </a:prstGeom>
          <a:noFill/>
        </p:spPr>
        <p:txBody>
          <a:bodyPr wrap="square">
            <a:spAutoFit/>
          </a:bodyPr>
          <a:lstStyle/>
          <a:p>
            <a:r>
              <a:rPr sz="1300" b="1">
                <a:solidFill>
                  <a:srgbClr val="FFFFFF"/>
                </a:solidFill>
              </a:rPr>
              <a:t>Insight de negocio</a:t>
            </a:r>
          </a:p>
          <a:p>
            <a:pPr/>
            <a:r>
              <a:rPr sz="1200">
                <a:solidFill>
                  <a:srgbClr val="FFFFFF"/>
                </a:solidFill>
              </a:rPr>
              <a:t>Las intervenciones mas efectivas son mejorar la concentracion y reducir el burnout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9022384" cy="457200"/>
          </a:xfrm>
          <a:prstGeom prst="rect">
            <a:avLst/>
          </a:prstGeom>
          <a:noFill/>
        </p:spPr>
        <p:txBody>
          <a:bodyPr wrap="none">
            <a:spAutoFit/>
          </a:bodyPr>
          <a:lstStyle/>
          <a:p>
            <a:r>
              <a:rPr sz="2400" b="1">
                <a:solidFill>
                  <a:srgbClr val="FFFFFF"/>
                </a:solidFill>
              </a:rPr>
              <a:t>Conclusiones</a:t>
            </a:r>
          </a:p>
        </p:txBody>
      </p:sp>
      <p:sp>
        <p:nvSpPr>
          <p:cNvPr id="4" name="Rounded Rectangle 3"/>
          <p:cNvSpPr/>
          <p:nvPr/>
        </p:nvSpPr>
        <p:spPr>
          <a:xfrm>
            <a:off x="365760" y="1280160"/>
            <a:ext cx="2763621" cy="2286000"/>
          </a:xfrm>
          <a:prstGeom prst="roundRect">
            <a:avLst/>
          </a:prstGeom>
          <a:solidFill>
            <a:srgbClr val="FFFFFF"/>
          </a:solidFill>
          <a:ln w="381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1417320"/>
            <a:ext cx="502920" cy="50292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44752"/>
            <a:ext cx="502920" cy="502920"/>
          </a:xfrm>
          <a:prstGeom prst="rect">
            <a:avLst/>
          </a:prstGeom>
          <a:noFill/>
        </p:spPr>
        <p:txBody>
          <a:bodyPr wrap="none">
            <a:spAutoFit/>
          </a:bodyPr>
          <a:lstStyle/>
          <a:p>
            <a:pPr algn="ctr"/>
            <a:r>
              <a:rPr sz="2000" b="1">
                <a:solidFill>
                  <a:srgbClr val="FFFFFF"/>
                </a:solidFill>
              </a:rPr>
              <a:t>1</a:t>
            </a:r>
          </a:p>
        </p:txBody>
      </p:sp>
      <p:sp>
        <p:nvSpPr>
          <p:cNvPr id="7" name="TextBox 6"/>
          <p:cNvSpPr txBox="1"/>
          <p:nvPr/>
        </p:nvSpPr>
        <p:spPr>
          <a:xfrm>
            <a:off x="1143000" y="1463040"/>
            <a:ext cx="1849221" cy="548640"/>
          </a:xfrm>
          <a:prstGeom prst="rect">
            <a:avLst/>
          </a:prstGeom>
          <a:noFill/>
        </p:spPr>
        <p:txBody>
          <a:bodyPr wrap="none">
            <a:spAutoFit/>
          </a:bodyPr>
          <a:lstStyle/>
          <a:p>
            <a:r>
              <a:rPr sz="1400" b="1">
                <a:solidFill>
                  <a:srgbClr val="2E7D32"/>
                </a:solidFill>
              </a:rPr>
              <a:t>Modelo predictivo solido</a:t>
            </a:r>
          </a:p>
        </p:txBody>
      </p:sp>
      <p:sp>
        <p:nvSpPr>
          <p:cNvPr id="8" name="TextBox 7"/>
          <p:cNvSpPr txBox="1"/>
          <p:nvPr/>
        </p:nvSpPr>
        <p:spPr>
          <a:xfrm>
            <a:off x="548640" y="2103120"/>
            <a:ext cx="2397861" cy="1371600"/>
          </a:xfrm>
          <a:prstGeom prst="rect">
            <a:avLst/>
          </a:prstGeom>
          <a:noFill/>
        </p:spPr>
        <p:txBody>
          <a:bodyPr wrap="square">
            <a:spAutoFit/>
          </a:bodyPr>
          <a:lstStyle/>
          <a:p>
            <a:r>
              <a:rPr sz="1200" b="0">
                <a:solidFill>
                  <a:srgbClr val="333333"/>
                </a:solidFill>
              </a:rPr>
              <a:t>Pipeline encadenado con SMOTE + arbol
AUC 0.93 sobre test set</a:t>
            </a:r>
          </a:p>
        </p:txBody>
      </p:sp>
      <p:sp>
        <p:nvSpPr>
          <p:cNvPr id="9" name="Rounded Rectangle 8"/>
          <p:cNvSpPr/>
          <p:nvPr/>
        </p:nvSpPr>
        <p:spPr>
          <a:xfrm>
            <a:off x="3312261" y="1280160"/>
            <a:ext cx="2763621" cy="2286000"/>
          </a:xfrm>
          <a:prstGeom prst="roundRect">
            <a:avLst/>
          </a:prstGeom>
          <a:solidFill>
            <a:srgbClr val="FFFFFF"/>
          </a:solidFill>
          <a:ln w="3810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49421" y="1417320"/>
            <a:ext cx="502920" cy="502920"/>
          </a:xfrm>
          <a:prstGeom prst="ellipse">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9421" y="1444752"/>
            <a:ext cx="502920" cy="502920"/>
          </a:xfrm>
          <a:prstGeom prst="rect">
            <a:avLst/>
          </a:prstGeom>
          <a:noFill/>
        </p:spPr>
        <p:txBody>
          <a:bodyPr wrap="none">
            <a:spAutoFit/>
          </a:bodyPr>
          <a:lstStyle/>
          <a:p>
            <a:pPr algn="ctr"/>
            <a:r>
              <a:rPr sz="2000" b="1">
                <a:solidFill>
                  <a:srgbClr val="FFFFFF"/>
                </a:solidFill>
              </a:rPr>
              <a:t>2</a:t>
            </a:r>
          </a:p>
        </p:txBody>
      </p:sp>
      <p:sp>
        <p:nvSpPr>
          <p:cNvPr id="12" name="TextBox 11"/>
          <p:cNvSpPr txBox="1"/>
          <p:nvPr/>
        </p:nvSpPr>
        <p:spPr>
          <a:xfrm>
            <a:off x="4089501" y="1463040"/>
            <a:ext cx="1849221" cy="548640"/>
          </a:xfrm>
          <a:prstGeom prst="rect">
            <a:avLst/>
          </a:prstGeom>
          <a:noFill/>
        </p:spPr>
        <p:txBody>
          <a:bodyPr wrap="none">
            <a:spAutoFit/>
          </a:bodyPr>
          <a:lstStyle/>
          <a:p>
            <a:r>
              <a:rPr sz="1400" b="1">
                <a:solidFill>
                  <a:srgbClr val="ED7D31"/>
                </a:solidFill>
              </a:rPr>
              <a:t>Componente prescriptivo</a:t>
            </a:r>
          </a:p>
        </p:txBody>
      </p:sp>
      <p:sp>
        <p:nvSpPr>
          <p:cNvPr id="13" name="TextBox 12"/>
          <p:cNvSpPr txBox="1"/>
          <p:nvPr/>
        </p:nvSpPr>
        <p:spPr>
          <a:xfrm>
            <a:off x="3495141" y="2103120"/>
            <a:ext cx="2397861" cy="1371600"/>
          </a:xfrm>
          <a:prstGeom prst="rect">
            <a:avLst/>
          </a:prstGeom>
          <a:noFill/>
        </p:spPr>
        <p:txBody>
          <a:bodyPr wrap="square">
            <a:spAutoFit/>
          </a:bodyPr>
          <a:lstStyle/>
          <a:p>
            <a:r>
              <a:rPr sz="1200" b="0">
                <a:solidFill>
                  <a:srgbClr val="333333"/>
                </a:solidFill>
              </a:rPr>
              <a:t>5 reglas de negocio (RN-01 a RN-05)
Recomendaciones personalizadas</a:t>
            </a:r>
          </a:p>
        </p:txBody>
      </p:sp>
      <p:sp>
        <p:nvSpPr>
          <p:cNvPr id="14" name="Rounded Rectangle 13"/>
          <p:cNvSpPr/>
          <p:nvPr/>
        </p:nvSpPr>
        <p:spPr>
          <a:xfrm>
            <a:off x="6258762" y="1280160"/>
            <a:ext cx="2763621" cy="2286000"/>
          </a:xfrm>
          <a:prstGeom prst="roundRect">
            <a:avLst/>
          </a:prstGeom>
          <a:solidFill>
            <a:srgbClr val="FFFFFF"/>
          </a:solidFill>
          <a:ln w="381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5922" y="1417320"/>
            <a:ext cx="502920" cy="50292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5922" y="1444752"/>
            <a:ext cx="502920" cy="502920"/>
          </a:xfrm>
          <a:prstGeom prst="rect">
            <a:avLst/>
          </a:prstGeom>
          <a:noFill/>
        </p:spPr>
        <p:txBody>
          <a:bodyPr wrap="none">
            <a:spAutoFit/>
          </a:bodyPr>
          <a:lstStyle/>
          <a:p>
            <a:pPr algn="ctr"/>
            <a:r>
              <a:rPr sz="2000" b="1">
                <a:solidFill>
                  <a:srgbClr val="FFFFFF"/>
                </a:solidFill>
              </a:rPr>
              <a:t>3</a:t>
            </a:r>
          </a:p>
        </p:txBody>
      </p:sp>
      <p:sp>
        <p:nvSpPr>
          <p:cNvPr id="17" name="TextBox 16"/>
          <p:cNvSpPr txBox="1"/>
          <p:nvPr/>
        </p:nvSpPr>
        <p:spPr>
          <a:xfrm>
            <a:off x="7036002" y="1463040"/>
            <a:ext cx="1849221" cy="548640"/>
          </a:xfrm>
          <a:prstGeom prst="rect">
            <a:avLst/>
          </a:prstGeom>
          <a:noFill/>
        </p:spPr>
        <p:txBody>
          <a:bodyPr wrap="none">
            <a:spAutoFit/>
          </a:bodyPr>
          <a:lstStyle/>
          <a:p>
            <a:r>
              <a:rPr sz="1400" b="1">
                <a:solidFill>
                  <a:srgbClr val="2E75B6"/>
                </a:solidFill>
              </a:rPr>
              <a:t>Migracion a produccion</a:t>
            </a:r>
          </a:p>
        </p:txBody>
      </p:sp>
      <p:sp>
        <p:nvSpPr>
          <p:cNvPr id="18" name="TextBox 17"/>
          <p:cNvSpPr txBox="1"/>
          <p:nvPr/>
        </p:nvSpPr>
        <p:spPr>
          <a:xfrm>
            <a:off x="6441642" y="2103120"/>
            <a:ext cx="2397861" cy="1371600"/>
          </a:xfrm>
          <a:prstGeom prst="rect">
            <a:avLst/>
          </a:prstGeom>
          <a:noFill/>
        </p:spPr>
        <p:txBody>
          <a:bodyPr wrap="square">
            <a:spAutoFit/>
          </a:bodyPr>
          <a:lstStyle/>
          <a:p>
            <a:r>
              <a:rPr sz="1200" b="0">
                <a:solidFill>
                  <a:srgbClr val="333333"/>
                </a:solidFill>
              </a:rPr>
              <a:t>De Colab a VS Code modular
~100 tests automatizados
Modelo serializado con metadata</a:t>
            </a:r>
          </a:p>
        </p:txBody>
      </p:sp>
      <p:sp>
        <p:nvSpPr>
          <p:cNvPr id="19" name="Rectangle 18"/>
          <p:cNvSpPr/>
          <p:nvPr/>
        </p:nvSpPr>
        <p:spPr>
          <a:xfrm>
            <a:off x="365760" y="4572000"/>
            <a:ext cx="9022384" cy="1371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663440"/>
            <a:ext cx="8656624" cy="1188720"/>
          </a:xfrm>
          <a:prstGeom prst="rect">
            <a:avLst/>
          </a:prstGeom>
          <a:noFill/>
        </p:spPr>
        <p:txBody>
          <a:bodyPr wrap="square">
            <a:spAutoFit/>
          </a:bodyPr>
          <a:lstStyle/>
          <a:p>
            <a:pPr algn="ctr"/>
            <a:r>
              <a:rPr sz="2200" b="1">
                <a:solidFill>
                  <a:srgbClr val="FFFFFF"/>
                </a:solidFill>
              </a:rPr>
              <a:t>Gracias - Preguntas y discusion</a:t>
            </a:r>
          </a:p>
          <a:p>
            <a:pPr algn="ctr"/>
            <a:r>
              <a:rPr sz="1300">
                <a:solidFill>
                  <a:srgbClr val="CFE2F3"/>
                </a:solidFill>
              </a:rPr>
              <a:t>Codigo completo: codigo_proyecto.html  -  Modelo: decision_tree_v1.joblib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